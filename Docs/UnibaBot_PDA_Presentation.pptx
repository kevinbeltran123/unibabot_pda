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UnibaBot PDA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Compliance Verification of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Development Plans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Beltran Martinez  |  Jeryleefth Lasso Motta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Engineering  |  Faculty of Engineering  |  University of Ibague  |  2025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344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semester, academic program offices at the University of Ibague must manually review 20+ Academic Development Plans (PDAs) against institutional guidelines, ABET outcomes, and competency mappings.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606040"/>
            <a:ext cx="25603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834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291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Multi-day manual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process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260604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260604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834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Inconsistent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11880" y="3291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applied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differently by reviewers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260604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2606040"/>
            <a:ext cx="25603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2834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Error-Prone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46520" y="3291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go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of the Art: Large Language Models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097280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783080" y="1097280"/>
            <a:ext cx="68122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96596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965960" y="144475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mechanism replaces recurrent models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(Vaswani et al.)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1097280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574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2018-19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783080" y="2057400"/>
            <a:ext cx="68122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6596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GPT-1 / GPT-2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965960" y="240487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pre-training + zero-shot learning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(Radford et al.)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109728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1752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783080" y="3017520"/>
            <a:ext cx="68122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6596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965960" y="336499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encoder for text understanding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(Devlin et al.)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1097280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9776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783080" y="3977640"/>
            <a:ext cx="68122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96596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 / Mistral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965960" y="432511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models accessible on consumer GPUs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(Touvron et al., Jiang et al.)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of the Art: Retrieval-Augmented Generation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64008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0972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Idea (Lewis et al., 2020)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an LLM with an external knowledge base. At query time, retrieve relevant passages and condition generation on both the query and retrieved context.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8046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377440"/>
            <a:ext cx="64008" cy="7132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50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Retrieval Quality is Key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7249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failures cause the majority of RAG errors (Fan et al., 2024)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8046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246120"/>
            <a:ext cx="64008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319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Chunking Matters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59359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Respecting document structure improves precision 15-20% (Jimeno Yepes et al., 2024)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8046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114800"/>
            <a:ext cx="64008" cy="7132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187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for Compliance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44622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outperforms pure parametric LLMs on regulatory tasks (Sun et al., 2025)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of the Art: Parameter-Efficient Fine-Tuning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38404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LoRA (Hu et al., 2022)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64592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small adapter matrices instead of full model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1% of parameters trained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results to full fine-tuning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cost at inference time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51560"/>
            <a:ext cx="38404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QLoRA (Dettmers et al., 2023)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4-bit quantization to LoRA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model fits in ~6GB VRAM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on free Google Colab T4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99.3% of full-precision performance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566160"/>
            <a:ext cx="64008" cy="1188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6393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Instruction Tuning + Synthetic Data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39776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 (Wei et al., 2022): instruction-response training enables zero-shot generalization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Alpaca (Taori et al., 2023): synthetic data from GPT-3.5 fine-tunes LLaMA 7B for under $600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Self-Instruct (Wang et al., 2022): generate training data without manual annotation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of the Art: Automated Compliance Checking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1463040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40280" y="114300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NLP-based compliance checking of data processing agreements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(Amaral Cejas et al., 2023)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874520"/>
            <a:ext cx="146304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74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196596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graph-enhanced LLMs for contract review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(Zheng et al., 2025)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697480"/>
            <a:ext cx="146304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6974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40280" y="278892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semantic annotation of legal texts with LLMs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(Savelka et al., 2023)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520440"/>
            <a:ext cx="1463040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204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361188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framework for multi-modal document understanding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(Sun et al., 2025 - DocAgent)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804672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4348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systems exist for academic compliance verification in ABET / Spanish-language contexts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 Objective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64008" cy="1463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32588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an intelligent agent that automatically verifies the compliance of Academic Development Plans (PDAs) against the institutional competency framework, generating structured reports that identify non-compliant sections, the specific criteria violated, and the corrections required.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Competency Framework Components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1554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3383280"/>
            <a:ext cx="15544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520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O1 - O7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240280" y="3383280"/>
            <a:ext cx="1554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40280" y="3383280"/>
            <a:ext cx="15544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2331720" y="3520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3172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C1 - C3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931920" y="3383280"/>
            <a:ext cx="1554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931920" y="3383280"/>
            <a:ext cx="155448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0" y="3520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2336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1a - 1l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623560" y="3383280"/>
            <a:ext cx="1554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23560" y="3383280"/>
            <a:ext cx="1554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3520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Pro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1500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SP1 - SP5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315200" y="3383280"/>
            <a:ext cx="1554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0" y="3383280"/>
            <a:ext cx="15544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7406640" y="3520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0664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D1 - D6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914400" cy="10515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128016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what extent can a RAG-augmented, fine-tuned LLM accurately identify non-compliant PDA sections compared to human expert reviewers?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377440"/>
            <a:ext cx="914400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7744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91640" y="251460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combining structured lookup + RAG + fine-tuning compare to each technique in isolation for compliance verification accuracy?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11880"/>
            <a:ext cx="9144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1188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91640" y="374904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effect of fine-tuning on the model's ability to correctly interpret Spanish-language academic content and map it to the institutional competency framework?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8288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97280"/>
            <a:ext cx="1828800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15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35331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21208" y="2057400"/>
            <a:ext cx="1609344" cy="6858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2075688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PDA (PDF)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" y="271576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21208" y="2862072"/>
            <a:ext cx="1609344" cy="6858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" y="2880360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1560" y="352044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1208" y="3666744"/>
            <a:ext cx="1609344" cy="6858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" y="368503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6072" y="3959352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assessment, schedule,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actions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258568" y="2743200"/>
            <a:ext cx="283464" cy="0"/>
          </a:xfrm>
          <a:prstGeom prst="line">
            <a:avLst/>
          </a:prstGeom>
          <a:noFill/>
          <a:ln w="25400">
            <a:solidFill>
              <a:srgbClr val="8A92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50008" y="26060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560320" y="1097280"/>
            <a:ext cx="18288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0" y="1097280"/>
            <a:ext cx="1828800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2560320" y="1115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0320" y="135331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Lookup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70048" y="2057400"/>
            <a:ext cx="1609344" cy="6858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24" name="Text 22"/>
          <p:cNvSpPr/>
          <p:nvPr/>
        </p:nvSpPr>
        <p:spPr>
          <a:xfrm>
            <a:off x="2724912" y="2075688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24912" y="2350008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22A14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200400" y="271576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70048" y="2862072"/>
            <a:ext cx="1609344" cy="6858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28" name="Text 26"/>
          <p:cNvSpPr/>
          <p:nvPr/>
        </p:nvSpPr>
        <p:spPr>
          <a:xfrm>
            <a:off x="2724912" y="2880360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Lookup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00400" y="352044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70048" y="3666744"/>
            <a:ext cx="1609344" cy="6858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1" name="Text 29"/>
          <p:cNvSpPr/>
          <p:nvPr/>
        </p:nvSpPr>
        <p:spPr>
          <a:xfrm>
            <a:off x="2724912" y="368503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24912" y="3959352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C1, C2, 1c, 1h,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SP5, D4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07408" y="2743200"/>
            <a:ext cx="283464" cy="0"/>
          </a:xfrm>
          <a:prstGeom prst="line">
            <a:avLst/>
          </a:prstGeom>
          <a:noFill/>
          <a:ln w="25400">
            <a:solidFill>
              <a:srgbClr val="8A92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98848" y="26060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709160" y="1097280"/>
            <a:ext cx="18288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1097280"/>
            <a:ext cx="18288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4709160" y="1115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09160" y="135331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+ LLM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18888" y="2057400"/>
            <a:ext cx="1609344" cy="6858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40" name="Text 38"/>
          <p:cNvSpPr/>
          <p:nvPr/>
        </p:nvSpPr>
        <p:spPr>
          <a:xfrm>
            <a:off x="4873752" y="2075688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73752" y="2350008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ABET &amp; competency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349240" y="271576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18888" y="2862072"/>
            <a:ext cx="1609344" cy="6858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44" name="Text 42"/>
          <p:cNvSpPr/>
          <p:nvPr/>
        </p:nvSpPr>
        <p:spPr>
          <a:xfrm>
            <a:off x="4873752" y="2880360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49240" y="352044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18888" y="3666744"/>
            <a:ext cx="1609344" cy="6858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47" name="Text 45"/>
          <p:cNvSpPr/>
          <p:nvPr/>
        </p:nvSpPr>
        <p:spPr>
          <a:xfrm>
            <a:off x="4873752" y="368503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LLM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73752" y="3959352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556248" y="2743200"/>
            <a:ext cx="283464" cy="0"/>
          </a:xfrm>
          <a:prstGeom prst="line">
            <a:avLst/>
          </a:prstGeom>
          <a:noFill/>
          <a:ln w="25400">
            <a:solidFill>
              <a:srgbClr val="8A92A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47688" y="26060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858000" y="1097280"/>
            <a:ext cx="18288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858000" y="1097280"/>
            <a:ext cx="1828800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6858000" y="1115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858000" y="135331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Generation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967728" y="2057400"/>
            <a:ext cx="1609344" cy="6858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56" name="Text 54"/>
          <p:cNvSpPr/>
          <p:nvPr/>
        </p:nvSpPr>
        <p:spPr>
          <a:xfrm>
            <a:off x="7022592" y="2075688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022592" y="2350008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Per-requirement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498080" y="271576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967728" y="2862072"/>
            <a:ext cx="1609344" cy="6858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60" name="Text 58"/>
          <p:cNvSpPr/>
          <p:nvPr/>
        </p:nvSpPr>
        <p:spPr>
          <a:xfrm>
            <a:off x="7022592" y="2880360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022592" y="315468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sections,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extraneous content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Bridging the gap between manual academic review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automated compliance verification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Fine-tuned LLMs for PDA Compliance Verification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Ibague  |  Systems Engineering  |  2025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UnibaBot PDA</dc:title>
  <dc:subject>PptxGenJS Presentation</dc:subject>
  <dc:creator>Kevin Beltran Martinez, Jeryleefth Lasso Motta</dc:creator>
  <cp:lastModifiedBy>Kevin Beltran Martinez, Jeryleefth Lasso Motta</cp:lastModifiedBy>
  <cp:revision>1</cp:revision>
  <dcterms:created xsi:type="dcterms:W3CDTF">2026-03-21T17:52:47Z</dcterms:created>
  <dcterms:modified xsi:type="dcterms:W3CDTF">2026-03-21T17:52:47Z</dcterms:modified>
</cp:coreProperties>
</file>